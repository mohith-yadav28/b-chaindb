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League Spartan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1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2005" y="2732406"/>
            <a:ext cx="12723991" cy="465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1"/>
              </a:lnSpc>
              <a:spcBef>
                <a:spcPct val="0"/>
              </a:spcBef>
            </a:pPr>
            <a:r>
              <a:rPr lang="en-US" sz="8858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Efficient Blockchain Transaction Indexing using B-Trees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181251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51726"/>
                  </a:lnTo>
                  <a:cubicBezTo>
                    <a:pt x="4274726" y="2160419"/>
                    <a:pt x="4267679" y="2167467"/>
                    <a:pt x="4258985" y="2167467"/>
                  </a:cubicBezTo>
                  <a:lnTo>
                    <a:pt x="15741" y="2167467"/>
                  </a:lnTo>
                  <a:cubicBezTo>
                    <a:pt x="11566" y="2167467"/>
                    <a:pt x="7562" y="2165808"/>
                    <a:pt x="4610" y="2162856"/>
                  </a:cubicBezTo>
                  <a:cubicBezTo>
                    <a:pt x="1658" y="2159904"/>
                    <a:pt x="0" y="2155901"/>
                    <a:pt x="0" y="215172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824249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0" y="0"/>
                </a:moveTo>
                <a:lnTo>
                  <a:pt x="10287000" y="0"/>
                </a:lnTo>
                <a:lnTo>
                  <a:pt x="10287000" y="4638502"/>
                </a:lnTo>
                <a:lnTo>
                  <a:pt x="0" y="46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327734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92556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51726"/>
                  </a:lnTo>
                  <a:cubicBezTo>
                    <a:pt x="4274726" y="2160419"/>
                    <a:pt x="4267679" y="2167467"/>
                    <a:pt x="4258985" y="2167467"/>
                  </a:cubicBezTo>
                  <a:lnTo>
                    <a:pt x="15741" y="2167467"/>
                  </a:lnTo>
                  <a:cubicBezTo>
                    <a:pt x="11566" y="2167467"/>
                    <a:pt x="7562" y="2165808"/>
                    <a:pt x="4610" y="2162856"/>
                  </a:cubicBezTo>
                  <a:cubicBezTo>
                    <a:pt x="1658" y="2159904"/>
                    <a:pt x="0" y="2155901"/>
                    <a:pt x="0" y="215172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80268" y="1491703"/>
            <a:ext cx="14761469" cy="726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networks generate millions of transactions daily</a:t>
            </a:r>
          </a:p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fast and scalable methods for:</a:t>
            </a:r>
          </a:p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Insertion of new transactions</a:t>
            </a:r>
          </a:p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Searching by transaction ID</a:t>
            </a:r>
          </a:p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Range queries (e.g., between two dates)</a:t>
            </a:r>
          </a:p>
          <a:p>
            <a:pPr algn="just">
              <a:lnSpc>
                <a:spcPts val="3929"/>
              </a:lnSpc>
              <a:spcBef>
                <a:spcPct val="0"/>
              </a:spcBef>
            </a:pPr>
            <a:endParaRPr lang="en-US" sz="280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929"/>
              </a:lnSpc>
              <a:spcBef>
                <a:spcPct val="0"/>
              </a:spcBef>
            </a:pPr>
            <a:r>
              <a:rPr lang="en-US" sz="2806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Core Problem: Speed vs. Trust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faces a trade-off between speed and trust.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databases are fast but less secure, while blockchain is highly secure but slower.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core challenge is to build a system that is both fast and secure for real-world use.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endParaRPr lang="en-US" sz="270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Goal</a:t>
            </a:r>
          </a:p>
          <a:p>
            <a:pPr algn="just">
              <a:lnSpc>
                <a:spcPts val="3789"/>
              </a:lnSpc>
              <a:spcBef>
                <a:spcPct val="0"/>
              </a:spcBef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Build a system that is both fast AND secure, overcoming this trade-off.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091843"/>
            <a:ext cx="15957002" cy="7195157"/>
          </a:xfrm>
          <a:custGeom>
            <a:avLst/>
            <a:gdLst/>
            <a:ahLst/>
            <a:cxnLst/>
            <a:rect l="l" t="t" r="r" b="b"/>
            <a:pathLst>
              <a:path w="15957002" h="7195157">
                <a:moveTo>
                  <a:pt x="15957002" y="0"/>
                </a:moveTo>
                <a:lnTo>
                  <a:pt x="0" y="0"/>
                </a:lnTo>
                <a:lnTo>
                  <a:pt x="0" y="7195157"/>
                </a:lnTo>
                <a:lnTo>
                  <a:pt x="15957002" y="7195157"/>
                </a:lnTo>
                <a:lnTo>
                  <a:pt x="15957002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19724" y="2285692"/>
            <a:ext cx="7106505" cy="10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  <a:spcBef>
                <a:spcPct val="0"/>
              </a:spcBef>
            </a:pPr>
            <a:r>
              <a:rPr lang="en-US" sz="6300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19724" y="3320048"/>
            <a:ext cx="14448553" cy="546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34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is a decentralized and secure digital ledger technology that records transactions in a transparent and immutable manner. This case study focuses on implementing a blockchain system to manage and verify transactions efficiently. It explores the underlying structure, consensus mechanisms, and practical applications, demonstrating how blockchain ensures trust, security, and scalability in modern digital systems.</a:t>
            </a:r>
          </a:p>
          <a:p>
            <a:pPr algn="just">
              <a:lnSpc>
                <a:spcPts val="6234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241737" y="393781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51726"/>
                  </a:lnTo>
                  <a:cubicBezTo>
                    <a:pt x="4274726" y="2160419"/>
                    <a:pt x="4267679" y="2167467"/>
                    <a:pt x="4258985" y="2167467"/>
                  </a:cubicBezTo>
                  <a:lnTo>
                    <a:pt x="15741" y="2167467"/>
                  </a:lnTo>
                  <a:cubicBezTo>
                    <a:pt x="11566" y="2167467"/>
                    <a:pt x="7562" y="2165808"/>
                    <a:pt x="4610" y="2162856"/>
                  </a:cubicBezTo>
                  <a:cubicBezTo>
                    <a:pt x="1658" y="2159904"/>
                    <a:pt x="0" y="2155901"/>
                    <a:pt x="0" y="215172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2330998" y="0"/>
            <a:ext cx="15957002" cy="7195157"/>
          </a:xfrm>
          <a:custGeom>
            <a:avLst/>
            <a:gdLst/>
            <a:ahLst/>
            <a:cxnLst/>
            <a:rect l="l" t="t" r="r" b="b"/>
            <a:pathLst>
              <a:path w="15957002" h="7195157">
                <a:moveTo>
                  <a:pt x="0" y="7195157"/>
                </a:moveTo>
                <a:lnTo>
                  <a:pt x="15957002" y="7195157"/>
                </a:lnTo>
                <a:lnTo>
                  <a:pt x="15957002" y="0"/>
                </a:lnTo>
                <a:lnTo>
                  <a:pt x="0" y="0"/>
                </a:lnTo>
                <a:lnTo>
                  <a:pt x="0" y="7195157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01458" y="3033631"/>
            <a:ext cx="14874085" cy="533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9"/>
              </a:lnSpc>
            </a:pPr>
            <a:r>
              <a:rPr lang="en-US" sz="2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1.To design and implement a B-Tree index for blockchain transactions.</a:t>
            </a:r>
          </a:p>
          <a:p>
            <a:pPr algn="just">
              <a:lnSpc>
                <a:spcPts val="5309"/>
              </a:lnSpc>
            </a:pPr>
            <a:r>
              <a:rPr lang="en-US" sz="2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2.To demonstrate four fundamental operations: insertion, search, range queries, and display in sorted order.</a:t>
            </a:r>
          </a:p>
          <a:p>
            <a:pPr algn="just">
              <a:lnSpc>
                <a:spcPts val="5309"/>
              </a:lnSpc>
            </a:pPr>
            <a:r>
              <a:rPr lang="en-US" sz="2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3.To extend functionality with transaction statistics and chain validation.</a:t>
            </a:r>
          </a:p>
          <a:p>
            <a:pPr algn="just">
              <a:lnSpc>
                <a:spcPts val="5309"/>
              </a:lnSpc>
            </a:pPr>
            <a:r>
              <a:rPr lang="en-US" sz="2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4.To justify why B-Trees are the most optimized structure for blockchain indexing compared to other data structures.</a:t>
            </a:r>
          </a:p>
          <a:p>
            <a:pPr marL="0" lvl="0" indent="0" algn="just">
              <a:lnSpc>
                <a:spcPts val="5309"/>
              </a:lnSpc>
              <a:spcBef>
                <a:spcPct val="0"/>
              </a:spcBef>
            </a:pPr>
            <a:r>
              <a:rPr lang="en-US" sz="24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5.To present a menu-driven demo for real-world applications like blockchain explorers and auditing 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1458" y="1944262"/>
            <a:ext cx="6903237" cy="107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300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1192556"/>
            <a:ext cx="16230600" cy="8065744"/>
            <a:chOff x="0" y="0"/>
            <a:chExt cx="4274726" cy="21243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24311"/>
            </a:xfrm>
            <a:custGeom>
              <a:avLst/>
              <a:gdLst/>
              <a:ahLst/>
              <a:cxnLst/>
              <a:rect l="l" t="t" r="r" b="b"/>
              <a:pathLst>
                <a:path w="4274726" h="2124311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08570"/>
                  </a:lnTo>
                  <a:cubicBezTo>
                    <a:pt x="4274726" y="2112745"/>
                    <a:pt x="4273067" y="2116749"/>
                    <a:pt x="4270115" y="2119701"/>
                  </a:cubicBezTo>
                  <a:cubicBezTo>
                    <a:pt x="4267164" y="2122653"/>
                    <a:pt x="4263160" y="2124311"/>
                    <a:pt x="4258985" y="2124311"/>
                  </a:cubicBezTo>
                  <a:lnTo>
                    <a:pt x="15741" y="2124311"/>
                  </a:lnTo>
                  <a:cubicBezTo>
                    <a:pt x="7047" y="2124311"/>
                    <a:pt x="0" y="2117264"/>
                    <a:pt x="0" y="2108570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181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01701" y="1479004"/>
            <a:ext cx="11101294" cy="332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60"/>
              </a:lnSpc>
            </a:pPr>
            <a:r>
              <a:rPr lang="en-US" sz="6329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B-Trees Are the Most Optimized Solution</a:t>
            </a:r>
          </a:p>
          <a:p>
            <a:pPr algn="ctr">
              <a:lnSpc>
                <a:spcPts val="8860"/>
              </a:lnSpc>
              <a:spcBef>
                <a:spcPct val="0"/>
              </a:spcBef>
            </a:pPr>
            <a:endParaRPr lang="en-US" sz="6329">
              <a:solidFill>
                <a:srgbClr val="63889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6133" y="3581857"/>
            <a:ext cx="15181381" cy="561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Balanced structure → Keeps height = O(log n), unlike BSTs which can degrade to O(n).</a:t>
            </a:r>
          </a:p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keys per node → Shallower than AVL/Red-Black trees → fewer comparisons.</a:t>
            </a:r>
          </a:p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Disk-friendly → Each node matches disk blocks → fewer I/O operations (real blockchain data &gt; memory).</a:t>
            </a:r>
          </a:p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both exact search and range queries (unlike hash tables).</a:t>
            </a:r>
          </a:p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Proven in real systems → Databases (MySQL, PostgreSQL, MongoDB) and file systems use B-Trees.</a:t>
            </a:r>
          </a:p>
          <a:p>
            <a:pPr marL="588507" lvl="1" indent="-294253" algn="just">
              <a:lnSpc>
                <a:spcPts val="44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Thus, B-Trees are the optimal choice for blockchain transaction indexing.</a:t>
            </a:r>
          </a:p>
          <a:p>
            <a:pPr marL="0" lvl="0" indent="0" algn="just">
              <a:lnSpc>
                <a:spcPts val="4470"/>
              </a:lnSpc>
            </a:pPr>
            <a:endParaRPr lang="en-US" sz="27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Freeform 8"/>
          <p:cNvSpPr/>
          <p:nvPr/>
        </p:nvSpPr>
        <p:spPr>
          <a:xfrm rot="5400000" flipV="1">
            <a:off x="12359302" y="4358302"/>
            <a:ext cx="8172391" cy="3685005"/>
          </a:xfrm>
          <a:custGeom>
            <a:avLst/>
            <a:gdLst/>
            <a:ahLst/>
            <a:cxnLst/>
            <a:rect l="l" t="t" r="r" b="b"/>
            <a:pathLst>
              <a:path w="8172391" h="3685005">
                <a:moveTo>
                  <a:pt x="0" y="3685005"/>
                </a:moveTo>
                <a:lnTo>
                  <a:pt x="8172391" y="3685005"/>
                </a:lnTo>
                <a:lnTo>
                  <a:pt x="8172391" y="0"/>
                </a:lnTo>
                <a:lnTo>
                  <a:pt x="0" y="0"/>
                </a:lnTo>
                <a:lnTo>
                  <a:pt x="0" y="3685005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46133" y="1192556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51726"/>
                  </a:lnTo>
                  <a:cubicBezTo>
                    <a:pt x="4274726" y="2160419"/>
                    <a:pt x="4267679" y="2167467"/>
                    <a:pt x="4258985" y="2167467"/>
                  </a:cubicBezTo>
                  <a:lnTo>
                    <a:pt x="15741" y="2167467"/>
                  </a:lnTo>
                  <a:cubicBezTo>
                    <a:pt x="11566" y="2167467"/>
                    <a:pt x="7562" y="2165808"/>
                    <a:pt x="4610" y="2162856"/>
                  </a:cubicBezTo>
                  <a:cubicBezTo>
                    <a:pt x="1658" y="2159904"/>
                    <a:pt x="0" y="2155901"/>
                    <a:pt x="0" y="215172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1406956" cy="5143500"/>
          </a:xfrm>
          <a:custGeom>
            <a:avLst/>
            <a:gdLst/>
            <a:ahLst/>
            <a:cxnLst/>
            <a:rect l="l" t="t" r="r" b="b"/>
            <a:pathLst>
              <a:path w="11406956" h="5143500">
                <a:moveTo>
                  <a:pt x="0" y="0"/>
                </a:moveTo>
                <a:lnTo>
                  <a:pt x="11406956" y="0"/>
                </a:lnTo>
                <a:lnTo>
                  <a:pt x="1140695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92556"/>
            <a:ext cx="16230600" cy="8372280"/>
            <a:chOff x="0" y="0"/>
            <a:chExt cx="4274726" cy="2205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205045"/>
            </a:xfrm>
            <a:custGeom>
              <a:avLst/>
              <a:gdLst/>
              <a:ahLst/>
              <a:cxnLst/>
              <a:rect l="l" t="t" r="r" b="b"/>
              <a:pathLst>
                <a:path w="4274726" h="2205045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89304"/>
                  </a:lnTo>
                  <a:cubicBezTo>
                    <a:pt x="4274726" y="2197997"/>
                    <a:pt x="4267679" y="2205045"/>
                    <a:pt x="4258985" y="2205045"/>
                  </a:cubicBezTo>
                  <a:lnTo>
                    <a:pt x="15741" y="2205045"/>
                  </a:lnTo>
                  <a:cubicBezTo>
                    <a:pt x="11566" y="2205045"/>
                    <a:pt x="7562" y="2203386"/>
                    <a:pt x="4610" y="2200434"/>
                  </a:cubicBezTo>
                  <a:cubicBezTo>
                    <a:pt x="1658" y="2197483"/>
                    <a:pt x="0" y="2193479"/>
                    <a:pt x="0" y="2189304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74726" cy="2262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54259" y="1315157"/>
            <a:ext cx="12379481" cy="23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7"/>
              </a:lnSpc>
            </a:pPr>
            <a:r>
              <a:rPr lang="en-US" sz="6805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 Implemented</a:t>
            </a:r>
          </a:p>
          <a:p>
            <a:pPr algn="ctr">
              <a:lnSpc>
                <a:spcPts val="9527"/>
              </a:lnSpc>
            </a:pPr>
            <a:endParaRPr lang="en-US" sz="6805">
              <a:solidFill>
                <a:srgbClr val="63889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68473" y="2505075"/>
            <a:ext cx="15405497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1.insertTransaction(tx)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Inserts a new transaction.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2.splitBlock(node)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Handles overflow when a node exceeds max keys.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3.searchTransaction(tx_id)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Efficient search using B-Tree property.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4.displayTransactions()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Inorder traversal → sorted order.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5.rangeQuery(startID, endID)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Fetch transactions in ID range.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6.get_total_transactions()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Counts all transactions.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7.get_average_value()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Returns average transaction value.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8.get_max_transaction()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Finds highest transaction value.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9.get_min_transaction()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Finds lowest transaction value.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10.get_range_sum(startID, endID)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Sum of values in a range.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11.validateChain()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Ensures blockchain order by checking prev_hash links.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 flipV="1">
            <a:off x="1165736" y="2770729"/>
            <a:ext cx="16669150" cy="7516271"/>
          </a:xfrm>
          <a:custGeom>
            <a:avLst/>
            <a:gdLst/>
            <a:ahLst/>
            <a:cxnLst/>
            <a:rect l="l" t="t" r="r" b="b"/>
            <a:pathLst>
              <a:path w="16669150" h="7516271">
                <a:moveTo>
                  <a:pt x="0" y="7516271"/>
                </a:moveTo>
                <a:lnTo>
                  <a:pt x="16669150" y="7516271"/>
                </a:lnTo>
                <a:lnTo>
                  <a:pt x="16669150" y="0"/>
                </a:lnTo>
                <a:lnTo>
                  <a:pt x="0" y="0"/>
                </a:lnTo>
                <a:lnTo>
                  <a:pt x="0" y="7516271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24062" y="1192556"/>
            <a:ext cx="16752671" cy="8229600"/>
            <a:chOff x="0" y="0"/>
            <a:chExt cx="4412226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12226" cy="2167467"/>
            </a:xfrm>
            <a:custGeom>
              <a:avLst/>
              <a:gdLst/>
              <a:ahLst/>
              <a:cxnLst/>
              <a:rect l="l" t="t" r="r" b="b"/>
              <a:pathLst>
                <a:path w="4412226" h="2167467">
                  <a:moveTo>
                    <a:pt x="15250" y="0"/>
                  </a:moveTo>
                  <a:lnTo>
                    <a:pt x="4396976" y="0"/>
                  </a:lnTo>
                  <a:cubicBezTo>
                    <a:pt x="4405398" y="0"/>
                    <a:pt x="4412226" y="6828"/>
                    <a:pt x="4412226" y="15250"/>
                  </a:cubicBezTo>
                  <a:lnTo>
                    <a:pt x="4412226" y="2152216"/>
                  </a:lnTo>
                  <a:cubicBezTo>
                    <a:pt x="4412226" y="2160639"/>
                    <a:pt x="4405398" y="2167467"/>
                    <a:pt x="4396976" y="2167467"/>
                  </a:cubicBezTo>
                  <a:lnTo>
                    <a:pt x="15250" y="2167467"/>
                  </a:lnTo>
                  <a:cubicBezTo>
                    <a:pt x="6828" y="2167467"/>
                    <a:pt x="0" y="2160639"/>
                    <a:pt x="0" y="2152216"/>
                  </a:cubicBezTo>
                  <a:lnTo>
                    <a:pt x="0" y="15250"/>
                  </a:lnTo>
                  <a:cubicBezTo>
                    <a:pt x="0" y="6828"/>
                    <a:pt x="6828" y="0"/>
                    <a:pt x="152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4122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278A60-5EBF-7561-46FA-D6F21A437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09679"/>
              </p:ext>
            </p:extLst>
          </p:nvPr>
        </p:nvGraphicFramePr>
        <p:xfrm>
          <a:off x="2683174" y="1361979"/>
          <a:ext cx="12778864" cy="7673762"/>
        </p:xfrm>
        <a:graphic>
          <a:graphicData uri="http://schemas.openxmlformats.org/drawingml/2006/table">
            <a:tbl>
              <a:tblPr/>
              <a:tblGrid>
                <a:gridCol w="3194716">
                  <a:extLst>
                    <a:ext uri="{9D8B030D-6E8A-4147-A177-3AD203B41FA5}">
                      <a16:colId xmlns:a16="http://schemas.microsoft.com/office/drawing/2014/main" val="2138105709"/>
                    </a:ext>
                  </a:extLst>
                </a:gridCol>
                <a:gridCol w="3194716">
                  <a:extLst>
                    <a:ext uri="{9D8B030D-6E8A-4147-A177-3AD203B41FA5}">
                      <a16:colId xmlns:a16="http://schemas.microsoft.com/office/drawing/2014/main" val="2554955410"/>
                    </a:ext>
                  </a:extLst>
                </a:gridCol>
                <a:gridCol w="3194716">
                  <a:extLst>
                    <a:ext uri="{9D8B030D-6E8A-4147-A177-3AD203B41FA5}">
                      <a16:colId xmlns:a16="http://schemas.microsoft.com/office/drawing/2014/main" val="3647160021"/>
                    </a:ext>
                  </a:extLst>
                </a:gridCol>
                <a:gridCol w="3194716">
                  <a:extLst>
                    <a:ext uri="{9D8B030D-6E8A-4147-A177-3AD203B41FA5}">
                      <a16:colId xmlns:a16="http://schemas.microsoft.com/office/drawing/2014/main" val="193217229"/>
                    </a:ext>
                  </a:extLst>
                </a:gridCol>
              </a:tblGrid>
              <a:tr h="150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Method name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effectLst/>
                        </a:rPr>
                        <a:t>Function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Time Complexity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Space Complexity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20238"/>
                  </a:ext>
                </a:extLst>
              </a:tr>
              <a:tr h="2350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effectLst/>
                        </a:rPr>
                        <a:t>insertTransaction(txn)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700" b="0" i="0" dirty="0">
                          <a:solidFill>
                            <a:srgbClr val="000000"/>
                          </a:solidFill>
                          <a:effectLst/>
                        </a:rPr>
                        <a:t>Inserts a new transaction into the B-Tree</a:t>
                      </a:r>
                      <a:endParaRPr lang="en-US" sz="1700" dirty="0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1700" b="0" i="0" dirty="0">
                          <a:solidFill>
                            <a:srgbClr val="000000"/>
                          </a:solidFill>
                          <a:effectLst/>
                        </a:rPr>
                        <a:t>(into the current block/node). </a:t>
                      </a:r>
                      <a:endParaRPr lang="en-US" sz="1700" dirty="0">
                        <a:effectLst/>
                      </a:endParaRP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O(log n)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O(1) per insert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232502"/>
                  </a:ext>
                </a:extLst>
              </a:tr>
              <a:tr h="190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effectLst/>
                        </a:rPr>
                        <a:t>splitBlock(node)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</a:rPr>
                        <a:t>Splits a node when it becomes full to maintain B-Tree balance.</a:t>
                      </a:r>
                      <a:endParaRPr lang="en-US" sz="1700">
                        <a:effectLst/>
                      </a:endParaRP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O(1) per split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O(1)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433293"/>
                  </a:ext>
                </a:extLst>
              </a:tr>
              <a:tr h="190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effectLst/>
                        </a:rPr>
                        <a:t>searchTransaction(tx_id)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Searches for a transaction by ID using B-Tree property.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O(log n) 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effectLst/>
                        </a:rPr>
                        <a:t>O(1)</a:t>
                      </a:r>
                    </a:p>
                  </a:txBody>
                  <a:tcPr marL="86635" marR="86635" marT="43318" marB="43318"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449664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56ED805E-EF7B-F434-CCC7-F24DE1F5E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3073" y="269109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800" b="1" i="0" u="none" strike="noStrike" cap="none" normalizeH="0" baseline="0">
                <a:ln>
                  <a:noFill/>
                </a:ln>
                <a:solidFill>
                  <a:srgbClr val="F6F3EB"/>
                </a:solidFill>
                <a:effectLst/>
                <a:latin typeface="Arial" panose="020B0604020202020204" pitchFamily="34" charset="0"/>
              </a:rPr>
              <a:t>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2409829" cy="5595705"/>
          </a:xfrm>
          <a:custGeom>
            <a:avLst/>
            <a:gdLst/>
            <a:ahLst/>
            <a:cxnLst/>
            <a:rect l="l" t="t" r="r" b="b"/>
            <a:pathLst>
              <a:path w="12409829" h="5595705">
                <a:moveTo>
                  <a:pt x="0" y="0"/>
                </a:moveTo>
                <a:lnTo>
                  <a:pt x="12409829" y="0"/>
                </a:lnTo>
                <a:lnTo>
                  <a:pt x="12409829" y="5595705"/>
                </a:lnTo>
                <a:lnTo>
                  <a:pt x="0" y="559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7631087" y="6460448"/>
            <a:ext cx="12409829" cy="5595705"/>
          </a:xfrm>
          <a:custGeom>
            <a:avLst/>
            <a:gdLst/>
            <a:ahLst/>
            <a:cxnLst/>
            <a:rect l="l" t="t" r="r" b="b"/>
            <a:pathLst>
              <a:path w="12409829" h="5595705">
                <a:moveTo>
                  <a:pt x="12409828" y="5595704"/>
                </a:moveTo>
                <a:lnTo>
                  <a:pt x="0" y="5595704"/>
                </a:lnTo>
                <a:lnTo>
                  <a:pt x="0" y="0"/>
                </a:lnTo>
                <a:lnTo>
                  <a:pt x="12409828" y="0"/>
                </a:lnTo>
                <a:lnTo>
                  <a:pt x="12409828" y="5595704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192556"/>
            <a:ext cx="16230600" cy="8372280"/>
            <a:chOff x="0" y="0"/>
            <a:chExt cx="4274726" cy="22050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205045"/>
            </a:xfrm>
            <a:custGeom>
              <a:avLst/>
              <a:gdLst/>
              <a:ahLst/>
              <a:cxnLst/>
              <a:rect l="l" t="t" r="r" b="b"/>
              <a:pathLst>
                <a:path w="4274726" h="2205045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89304"/>
                  </a:lnTo>
                  <a:cubicBezTo>
                    <a:pt x="4274726" y="2197997"/>
                    <a:pt x="4267679" y="2205045"/>
                    <a:pt x="4258985" y="2205045"/>
                  </a:cubicBezTo>
                  <a:lnTo>
                    <a:pt x="15741" y="2205045"/>
                  </a:lnTo>
                  <a:cubicBezTo>
                    <a:pt x="11566" y="2205045"/>
                    <a:pt x="7562" y="2203386"/>
                    <a:pt x="4610" y="2200434"/>
                  </a:cubicBezTo>
                  <a:cubicBezTo>
                    <a:pt x="1658" y="2197483"/>
                    <a:pt x="0" y="2193479"/>
                    <a:pt x="0" y="2189304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274726" cy="2262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 flipV="1">
            <a:off x="152400" y="2934089"/>
            <a:ext cx="16669150" cy="7516271"/>
          </a:xfrm>
          <a:custGeom>
            <a:avLst/>
            <a:gdLst/>
            <a:ahLst/>
            <a:cxnLst/>
            <a:rect l="l" t="t" r="r" b="b"/>
            <a:pathLst>
              <a:path w="16669150" h="7516271">
                <a:moveTo>
                  <a:pt x="0" y="7516271"/>
                </a:moveTo>
                <a:lnTo>
                  <a:pt x="16669150" y="7516271"/>
                </a:lnTo>
                <a:lnTo>
                  <a:pt x="16669150" y="0"/>
                </a:lnTo>
                <a:lnTo>
                  <a:pt x="0" y="0"/>
                </a:lnTo>
                <a:lnTo>
                  <a:pt x="0" y="7516271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Object 12"/>
          <p:cNvGraphicFramePr/>
          <p:nvPr/>
        </p:nvGraphicFramePr>
        <p:xfrm>
          <a:off x="1181100" y="1755229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105900" imgH="5791200" progId="Excel.Sheet.12">
                  <p:embed/>
                </p:oleObj>
              </mc:Choice>
              <mc:Fallback>
                <p:oleObj name="Worksheet" r:id="rId4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1100" y="1755229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824249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0" y="0"/>
                </a:moveTo>
                <a:lnTo>
                  <a:pt x="10287000" y="0"/>
                </a:lnTo>
                <a:lnTo>
                  <a:pt x="10287000" y="4638502"/>
                </a:lnTo>
                <a:lnTo>
                  <a:pt x="0" y="46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0813502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10287000" y="4638502"/>
                </a:moveTo>
                <a:lnTo>
                  <a:pt x="0" y="463850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4638502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4817511" y="1224224"/>
            <a:ext cx="10633323" cy="0"/>
          </a:xfrm>
          <a:prstGeom prst="line">
            <a:avLst/>
          </a:prstGeom>
          <a:ln w="76200" cap="rnd">
            <a:solidFill>
              <a:srgbClr val="E9C7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5984" y="4995576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4062" y="1192556"/>
            <a:ext cx="16752671" cy="8229600"/>
            <a:chOff x="0" y="0"/>
            <a:chExt cx="44122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2226" cy="2167467"/>
            </a:xfrm>
            <a:custGeom>
              <a:avLst/>
              <a:gdLst/>
              <a:ahLst/>
              <a:cxnLst/>
              <a:rect l="l" t="t" r="r" b="b"/>
              <a:pathLst>
                <a:path w="4412226" h="2167467">
                  <a:moveTo>
                    <a:pt x="15250" y="0"/>
                  </a:moveTo>
                  <a:lnTo>
                    <a:pt x="4396976" y="0"/>
                  </a:lnTo>
                  <a:cubicBezTo>
                    <a:pt x="4405398" y="0"/>
                    <a:pt x="4412226" y="6828"/>
                    <a:pt x="4412226" y="15250"/>
                  </a:cubicBezTo>
                  <a:lnTo>
                    <a:pt x="4412226" y="2152216"/>
                  </a:lnTo>
                  <a:cubicBezTo>
                    <a:pt x="4412226" y="2160639"/>
                    <a:pt x="4405398" y="2167467"/>
                    <a:pt x="4396976" y="2167467"/>
                  </a:cubicBezTo>
                  <a:lnTo>
                    <a:pt x="15250" y="2167467"/>
                  </a:lnTo>
                  <a:cubicBezTo>
                    <a:pt x="6828" y="2167467"/>
                    <a:pt x="0" y="2160639"/>
                    <a:pt x="0" y="2152216"/>
                  </a:cubicBezTo>
                  <a:lnTo>
                    <a:pt x="0" y="15250"/>
                  </a:lnTo>
                  <a:cubicBezTo>
                    <a:pt x="0" y="6828"/>
                    <a:pt x="6828" y="0"/>
                    <a:pt x="152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4122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graphicFrame>
        <p:nvGraphicFramePr>
          <p:cNvPr id="12" name="Object 12"/>
          <p:cNvGraphicFramePr/>
          <p:nvPr/>
        </p:nvGraphicFramePr>
        <p:xfrm>
          <a:off x="1028700" y="1357102"/>
          <a:ext cx="16230600" cy="757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10820400" progId="Excel.Sheet.12">
                  <p:embed/>
                </p:oleObj>
              </mc:Choice>
              <mc:Fallback>
                <p:oleObj name="Worksheet" r:id="rId4" imgW="19469100" imgH="10820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1357102"/>
                        <a:ext cx="16230600" cy="7572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31110" y="3813348"/>
            <a:ext cx="14356890" cy="6473652"/>
          </a:xfrm>
          <a:custGeom>
            <a:avLst/>
            <a:gdLst/>
            <a:ahLst/>
            <a:cxnLst/>
            <a:rect l="l" t="t" r="r" b="b"/>
            <a:pathLst>
              <a:path w="14356890" h="6473652">
                <a:moveTo>
                  <a:pt x="0" y="0"/>
                </a:moveTo>
                <a:lnTo>
                  <a:pt x="14356890" y="0"/>
                </a:lnTo>
                <a:lnTo>
                  <a:pt x="14356890" y="6473652"/>
                </a:lnTo>
                <a:lnTo>
                  <a:pt x="0" y="647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491590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92556"/>
            <a:ext cx="16230600" cy="8372280"/>
            <a:chOff x="0" y="0"/>
            <a:chExt cx="4274726" cy="2205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205045"/>
            </a:xfrm>
            <a:custGeom>
              <a:avLst/>
              <a:gdLst/>
              <a:ahLst/>
              <a:cxnLst/>
              <a:rect l="l" t="t" r="r" b="b"/>
              <a:pathLst>
                <a:path w="4274726" h="2205045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89304"/>
                  </a:lnTo>
                  <a:cubicBezTo>
                    <a:pt x="4274726" y="2197997"/>
                    <a:pt x="4267679" y="2205045"/>
                    <a:pt x="4258985" y="2205045"/>
                  </a:cubicBezTo>
                  <a:lnTo>
                    <a:pt x="15741" y="2205045"/>
                  </a:lnTo>
                  <a:cubicBezTo>
                    <a:pt x="11566" y="2205045"/>
                    <a:pt x="7562" y="2203386"/>
                    <a:pt x="4610" y="2200434"/>
                  </a:cubicBezTo>
                  <a:cubicBezTo>
                    <a:pt x="1658" y="2197483"/>
                    <a:pt x="0" y="2193479"/>
                    <a:pt x="0" y="2189304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74726" cy="2262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graphicFrame>
        <p:nvGraphicFramePr>
          <p:cNvPr id="10" name="Object 10"/>
          <p:cNvGraphicFramePr/>
          <p:nvPr/>
        </p:nvGraphicFramePr>
        <p:xfrm>
          <a:off x="1460949" y="2478311"/>
          <a:ext cx="16230600" cy="757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10820400" progId="Excel.Sheet.12">
                  <p:embed/>
                </p:oleObj>
              </mc:Choice>
              <mc:Fallback>
                <p:oleObj name="Worksheet" r:id="rId4" imgW="19469100" imgH="10820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0949" y="2478311"/>
                        <a:ext cx="16230600" cy="7572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824249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0" y="0"/>
                </a:moveTo>
                <a:lnTo>
                  <a:pt x="10287000" y="0"/>
                </a:lnTo>
                <a:lnTo>
                  <a:pt x="10287000" y="4638502"/>
                </a:lnTo>
                <a:lnTo>
                  <a:pt x="0" y="46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0813502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10287000" y="4638502"/>
                </a:moveTo>
                <a:lnTo>
                  <a:pt x="0" y="463850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4638502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4817511" y="1224224"/>
            <a:ext cx="10633323" cy="0"/>
          </a:xfrm>
          <a:prstGeom prst="line">
            <a:avLst/>
          </a:prstGeom>
          <a:ln w="76200" cap="rnd">
            <a:solidFill>
              <a:srgbClr val="E9C7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5984" y="4995576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4062" y="1192556"/>
            <a:ext cx="16752671" cy="8229600"/>
            <a:chOff x="0" y="0"/>
            <a:chExt cx="44122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2226" cy="2167467"/>
            </a:xfrm>
            <a:custGeom>
              <a:avLst/>
              <a:gdLst/>
              <a:ahLst/>
              <a:cxnLst/>
              <a:rect l="l" t="t" r="r" b="b"/>
              <a:pathLst>
                <a:path w="4412226" h="2167467">
                  <a:moveTo>
                    <a:pt x="15250" y="0"/>
                  </a:moveTo>
                  <a:lnTo>
                    <a:pt x="4396976" y="0"/>
                  </a:lnTo>
                  <a:cubicBezTo>
                    <a:pt x="4405398" y="0"/>
                    <a:pt x="4412226" y="6828"/>
                    <a:pt x="4412226" y="15250"/>
                  </a:cubicBezTo>
                  <a:lnTo>
                    <a:pt x="4412226" y="2152216"/>
                  </a:lnTo>
                  <a:cubicBezTo>
                    <a:pt x="4412226" y="2160639"/>
                    <a:pt x="4405398" y="2167467"/>
                    <a:pt x="4396976" y="2167467"/>
                  </a:cubicBezTo>
                  <a:lnTo>
                    <a:pt x="15250" y="2167467"/>
                  </a:lnTo>
                  <a:cubicBezTo>
                    <a:pt x="6828" y="2167467"/>
                    <a:pt x="0" y="2160639"/>
                    <a:pt x="0" y="2152216"/>
                  </a:cubicBezTo>
                  <a:lnTo>
                    <a:pt x="0" y="15250"/>
                  </a:lnTo>
                  <a:cubicBezTo>
                    <a:pt x="0" y="6828"/>
                    <a:pt x="6828" y="0"/>
                    <a:pt x="152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4122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241737" y="491590"/>
            <a:ext cx="732828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2398" y="1391367"/>
            <a:ext cx="13434604" cy="197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 &amp; Space Complexity Summary</a:t>
            </a:r>
          </a:p>
          <a:p>
            <a:pPr algn="ctr">
              <a:lnSpc>
                <a:spcPts val="7980"/>
              </a:lnSpc>
            </a:pPr>
            <a:endParaRPr lang="en-US" sz="5700">
              <a:solidFill>
                <a:srgbClr val="63889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3435" y="2713144"/>
            <a:ext cx="15945865" cy="678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078" lvl="1" indent="-378039" algn="l">
              <a:lnSpc>
                <a:spcPts val="4902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O(log n): searchTransaction, insertTransaction, get_min_transaction, get_max_transaction</a:t>
            </a:r>
          </a:p>
          <a:p>
            <a:pPr algn="l">
              <a:lnSpc>
                <a:spcPts val="4902"/>
              </a:lnSpc>
            </a:pPr>
            <a:endParaRPr lang="en-US" sz="350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6078" lvl="1" indent="-378039" algn="l">
              <a:lnSpc>
                <a:spcPts val="4902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O(log n + k): rangeQuery, get_range_sum (k = # of results)</a:t>
            </a:r>
          </a:p>
          <a:p>
            <a:pPr algn="l">
              <a:lnSpc>
                <a:spcPts val="4902"/>
              </a:lnSpc>
            </a:pPr>
            <a:endParaRPr lang="en-US" sz="350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6078" lvl="1" indent="-378039" algn="l">
              <a:lnSpc>
                <a:spcPts val="4902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O(n): displayTransactions, get_total_transactions, get_average_value, validateChain</a:t>
            </a:r>
          </a:p>
          <a:p>
            <a:pPr algn="l">
              <a:lnSpc>
                <a:spcPts val="4902"/>
              </a:lnSpc>
            </a:pPr>
            <a:endParaRPr lang="en-US" sz="350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6078" lvl="1" indent="-378039" algn="l">
              <a:lnSpc>
                <a:spcPts val="4902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Space Complexity: Mostly O(1) for per-method operations, O(n) for recursion/results.</a:t>
            </a:r>
          </a:p>
          <a:p>
            <a:pPr algn="l">
              <a:lnSpc>
                <a:spcPts val="4902"/>
              </a:lnSpc>
            </a:pPr>
            <a:endParaRPr lang="en-US" sz="350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31110" y="3813348"/>
            <a:ext cx="14356890" cy="6473652"/>
          </a:xfrm>
          <a:custGeom>
            <a:avLst/>
            <a:gdLst/>
            <a:ahLst/>
            <a:cxnLst/>
            <a:rect l="l" t="t" r="r" b="b"/>
            <a:pathLst>
              <a:path w="14356890" h="6473652">
                <a:moveTo>
                  <a:pt x="0" y="0"/>
                </a:moveTo>
                <a:lnTo>
                  <a:pt x="14356890" y="0"/>
                </a:lnTo>
                <a:lnTo>
                  <a:pt x="14356890" y="6473652"/>
                </a:lnTo>
                <a:lnTo>
                  <a:pt x="0" y="647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491590"/>
            <a:ext cx="732828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6F3EB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92556"/>
            <a:ext cx="16230600" cy="8372280"/>
            <a:chOff x="0" y="0"/>
            <a:chExt cx="4274726" cy="2205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205045"/>
            </a:xfrm>
            <a:custGeom>
              <a:avLst/>
              <a:gdLst/>
              <a:ahLst/>
              <a:cxnLst/>
              <a:rect l="l" t="t" r="r" b="b"/>
              <a:pathLst>
                <a:path w="4274726" h="2205045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89304"/>
                  </a:lnTo>
                  <a:cubicBezTo>
                    <a:pt x="4274726" y="2197997"/>
                    <a:pt x="4267679" y="2205045"/>
                    <a:pt x="4258985" y="2205045"/>
                  </a:cubicBezTo>
                  <a:lnTo>
                    <a:pt x="15741" y="2205045"/>
                  </a:lnTo>
                  <a:cubicBezTo>
                    <a:pt x="11566" y="2205045"/>
                    <a:pt x="7562" y="2203386"/>
                    <a:pt x="4610" y="2200434"/>
                  </a:cubicBezTo>
                  <a:cubicBezTo>
                    <a:pt x="1658" y="2197483"/>
                    <a:pt x="0" y="2193479"/>
                    <a:pt x="0" y="2189304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74726" cy="2262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84330" y="715689"/>
            <a:ext cx="13719339" cy="242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4"/>
              </a:lnSpc>
            </a:pPr>
            <a:endParaRPr/>
          </a:p>
          <a:p>
            <a:pPr algn="ctr">
              <a:lnSpc>
                <a:spcPts val="6484"/>
              </a:lnSpc>
            </a:pPr>
            <a:r>
              <a:rPr lang="en-US" sz="4631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B-Trees Are Optimal for All 11 Methods</a:t>
            </a:r>
          </a:p>
          <a:p>
            <a:pPr algn="ctr">
              <a:lnSpc>
                <a:spcPts val="6484"/>
              </a:lnSpc>
            </a:pPr>
            <a:endParaRPr lang="en-US" sz="4631">
              <a:solidFill>
                <a:srgbClr val="638895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15096" y="2674045"/>
            <a:ext cx="15193055" cy="689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791" lvl="1" indent="-386895" algn="l">
              <a:lnSpc>
                <a:spcPts val="5017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Balanced Tree: Keeps height low → insert, search, max/min all O(log n).</a:t>
            </a:r>
          </a:p>
          <a:p>
            <a:pPr marL="773791" lvl="1" indent="-386895" algn="l">
              <a:lnSpc>
                <a:spcPts val="5017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Multi-Key Nodes: Reduces disk accesses → practical for millions of transactions.</a:t>
            </a:r>
          </a:p>
          <a:p>
            <a:pPr marL="773791" lvl="1" indent="-386895" algn="l">
              <a:lnSpc>
                <a:spcPts val="5017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Range Queries: Essential for rangeSum, rangeQuery, and statistics.</a:t>
            </a:r>
          </a:p>
          <a:p>
            <a:pPr marL="773791" lvl="1" indent="-386895" algn="l">
              <a:lnSpc>
                <a:spcPts val="5017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 Updates: Insertion &amp; deletion handled efficiently, unlike hash tables.</a:t>
            </a:r>
          </a:p>
          <a:p>
            <a:pPr marL="773791" lvl="1" indent="-386895" algn="l">
              <a:lnSpc>
                <a:spcPts val="5017"/>
              </a:lnSpc>
              <a:buFont typeface="Arial"/>
              <a:buChar char="•"/>
            </a:pPr>
            <a:r>
              <a:rPr lang="en-US" sz="35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Real-World Proven: Used in databases, file systems, and blockchain explorers.</a:t>
            </a:r>
          </a:p>
          <a:p>
            <a:pPr algn="l">
              <a:lnSpc>
                <a:spcPts val="5017"/>
              </a:lnSpc>
            </a:pPr>
            <a:endParaRPr lang="en-US" sz="358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824249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0" y="0"/>
                </a:moveTo>
                <a:lnTo>
                  <a:pt x="10287000" y="0"/>
                </a:lnTo>
                <a:lnTo>
                  <a:pt x="10287000" y="4638502"/>
                </a:lnTo>
                <a:lnTo>
                  <a:pt x="0" y="46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0813502" y="2824249"/>
            <a:ext cx="10287000" cy="4638502"/>
          </a:xfrm>
          <a:custGeom>
            <a:avLst/>
            <a:gdLst/>
            <a:ahLst/>
            <a:cxnLst/>
            <a:rect l="l" t="t" r="r" b="b"/>
            <a:pathLst>
              <a:path w="10287000" h="4638502">
                <a:moveTo>
                  <a:pt x="10287000" y="4638502"/>
                </a:moveTo>
                <a:lnTo>
                  <a:pt x="0" y="463850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4638502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4817511" y="1224224"/>
            <a:ext cx="10633323" cy="0"/>
          </a:xfrm>
          <a:prstGeom prst="line">
            <a:avLst/>
          </a:prstGeom>
          <a:ln w="76200" cap="rnd">
            <a:solidFill>
              <a:srgbClr val="E9C7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5984" y="4995576"/>
            <a:ext cx="732828" cy="70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4062" y="1192556"/>
            <a:ext cx="16752671" cy="8229600"/>
            <a:chOff x="0" y="0"/>
            <a:chExt cx="44122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2226" cy="2167467"/>
            </a:xfrm>
            <a:custGeom>
              <a:avLst/>
              <a:gdLst/>
              <a:ahLst/>
              <a:cxnLst/>
              <a:rect l="l" t="t" r="r" b="b"/>
              <a:pathLst>
                <a:path w="4412226" h="2167467">
                  <a:moveTo>
                    <a:pt x="15250" y="0"/>
                  </a:moveTo>
                  <a:lnTo>
                    <a:pt x="4396976" y="0"/>
                  </a:lnTo>
                  <a:cubicBezTo>
                    <a:pt x="4405398" y="0"/>
                    <a:pt x="4412226" y="6828"/>
                    <a:pt x="4412226" y="15250"/>
                  </a:cubicBezTo>
                  <a:lnTo>
                    <a:pt x="4412226" y="2152216"/>
                  </a:lnTo>
                  <a:cubicBezTo>
                    <a:pt x="4412226" y="2160639"/>
                    <a:pt x="4405398" y="2167467"/>
                    <a:pt x="4396976" y="2167467"/>
                  </a:cubicBezTo>
                  <a:lnTo>
                    <a:pt x="15250" y="2167467"/>
                  </a:lnTo>
                  <a:cubicBezTo>
                    <a:pt x="6828" y="2167467"/>
                    <a:pt x="0" y="2160639"/>
                    <a:pt x="0" y="2152216"/>
                  </a:cubicBezTo>
                  <a:lnTo>
                    <a:pt x="0" y="15250"/>
                  </a:lnTo>
                  <a:cubicBezTo>
                    <a:pt x="0" y="6828"/>
                    <a:pt x="6828" y="0"/>
                    <a:pt x="152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E9C7C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4122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241737" y="491590"/>
            <a:ext cx="732828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2398" y="1391367"/>
            <a:ext cx="13434604" cy="96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0868" y="2948443"/>
            <a:ext cx="14977283" cy="5410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4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1.Amal U - CB.SC.U4CSE24204</a:t>
            </a:r>
          </a:p>
          <a:p>
            <a:pPr algn="l">
              <a:lnSpc>
                <a:spcPts val="6144"/>
              </a:lnSpc>
            </a:pPr>
            <a:endParaRPr lang="en-US" sz="458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6144"/>
              </a:lnSpc>
            </a:pPr>
            <a:r>
              <a:rPr lang="en-US" sz="43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2.Gopi Krishna P - CB.SC.U4CSE24221</a:t>
            </a:r>
          </a:p>
          <a:p>
            <a:pPr algn="l">
              <a:lnSpc>
                <a:spcPts val="6144"/>
              </a:lnSpc>
            </a:pPr>
            <a:endParaRPr lang="en-US" sz="438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6144"/>
              </a:lnSpc>
            </a:pPr>
            <a:r>
              <a:rPr lang="en-US" sz="43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3.Nishitha Kamalapathi - CB.SC.U4CSE24238</a:t>
            </a:r>
          </a:p>
          <a:p>
            <a:pPr algn="l">
              <a:lnSpc>
                <a:spcPts val="6144"/>
              </a:lnSpc>
            </a:pPr>
            <a:endParaRPr lang="en-US" sz="438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6144"/>
              </a:lnSpc>
            </a:pPr>
            <a:r>
              <a:rPr lang="en-US" sz="43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4.Golla Mohith - CB.SC.U4CSE24263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31110" y="3813348"/>
            <a:ext cx="14356890" cy="6473652"/>
          </a:xfrm>
          <a:custGeom>
            <a:avLst/>
            <a:gdLst/>
            <a:ahLst/>
            <a:cxnLst/>
            <a:rect l="l" t="t" r="r" b="b"/>
            <a:pathLst>
              <a:path w="14356890" h="6473652">
                <a:moveTo>
                  <a:pt x="0" y="0"/>
                </a:moveTo>
                <a:lnTo>
                  <a:pt x="14356890" y="0"/>
                </a:lnTo>
                <a:lnTo>
                  <a:pt x="14356890" y="6473652"/>
                </a:lnTo>
                <a:lnTo>
                  <a:pt x="0" y="647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57002" y="0"/>
            <a:ext cx="1302298" cy="1602829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0400" cy="742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41737" y="491590"/>
            <a:ext cx="732828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6F3EB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92556"/>
            <a:ext cx="16230600" cy="8372280"/>
            <a:chOff x="0" y="0"/>
            <a:chExt cx="4274726" cy="2205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205045"/>
            </a:xfrm>
            <a:custGeom>
              <a:avLst/>
              <a:gdLst/>
              <a:ahLst/>
              <a:cxnLst/>
              <a:rect l="l" t="t" r="r" b="b"/>
              <a:pathLst>
                <a:path w="4274726" h="2205045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2189304"/>
                  </a:lnTo>
                  <a:cubicBezTo>
                    <a:pt x="4274726" y="2197997"/>
                    <a:pt x="4267679" y="2205045"/>
                    <a:pt x="4258985" y="2205045"/>
                  </a:cubicBezTo>
                  <a:lnTo>
                    <a:pt x="15741" y="2205045"/>
                  </a:lnTo>
                  <a:cubicBezTo>
                    <a:pt x="11566" y="2205045"/>
                    <a:pt x="7562" y="2203386"/>
                    <a:pt x="4610" y="2200434"/>
                  </a:cubicBezTo>
                  <a:cubicBezTo>
                    <a:pt x="1658" y="2197483"/>
                    <a:pt x="0" y="2193479"/>
                    <a:pt x="0" y="2189304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rnd">
              <a:solidFill>
                <a:srgbClr val="9FC3D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74726" cy="2262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53334" y="4232356"/>
            <a:ext cx="13719339" cy="164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83"/>
              </a:lnSpc>
            </a:pPr>
            <a:r>
              <a:rPr lang="en-US" sz="9631">
                <a:solidFill>
                  <a:srgbClr val="63889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Custom</PresentationFormat>
  <Paragraphs>100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Canva Sans</vt:lpstr>
      <vt:lpstr>Poppins</vt:lpstr>
      <vt:lpstr>Arial</vt:lpstr>
      <vt:lpstr>League Spartan</vt:lpstr>
      <vt:lpstr>Poppins Bold</vt:lpstr>
      <vt:lpstr>Calibri</vt:lpstr>
      <vt:lpstr>Canva Sans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</dc:title>
  <cp:lastModifiedBy>GOPI KRISHNA P - [CB.SC.U4CSE24221]</cp:lastModifiedBy>
  <cp:revision>2</cp:revision>
  <dcterms:created xsi:type="dcterms:W3CDTF">2006-08-16T00:00:00Z</dcterms:created>
  <dcterms:modified xsi:type="dcterms:W3CDTF">2025-10-07T17:08:52Z</dcterms:modified>
  <dc:identifier>DAG0LxSpqQE</dc:identifier>
</cp:coreProperties>
</file>